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65" r:id="rId3"/>
    <p:sldId id="263" r:id="rId4"/>
    <p:sldId id="258" r:id="rId5"/>
    <p:sldId id="259" r:id="rId6"/>
    <p:sldId id="260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296" autoAdjust="0"/>
  </p:normalViewPr>
  <p:slideViewPr>
    <p:cSldViewPr snapToGrid="0" snapToObjects="1">
      <p:cViewPr varScale="1">
        <p:scale>
          <a:sx n="63" d="100"/>
          <a:sy n="63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72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team-e です。私たちが作っているアプリを、まず一言で説明します。SABERA をかけたまま空を見上げると、実際の空の星に、線と名前が重なって見えます。そして、グラスのツルを一回叩くと、AIが、いま見えているその星空について語りかけてきます。</a:t>
            </a:r>
            <a:r>
              <a:rPr lang="ja-JP" altLang="en-US" dirty="0"/>
              <a:t>右側の画像がイメージ画像です。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必要なことは</a:t>
            </a:r>
            <a:r>
              <a:rPr lang="en-US" altLang="ja-JP" dirty="0"/>
              <a:t>、SABERA</a:t>
            </a:r>
            <a:r>
              <a:rPr lang="ja-JP" altLang="en-US" dirty="0"/>
              <a:t>を</a:t>
            </a:r>
            <a:r>
              <a:rPr lang="en-US" altLang="ja-JP" dirty="0" err="1"/>
              <a:t>かけて</a:t>
            </a:r>
            <a:r>
              <a:rPr lang="en-US" altLang="ja-JP" dirty="0"/>
              <a:t>、</a:t>
            </a:r>
            <a:r>
              <a:rPr lang="ja-JP" altLang="en-US" dirty="0"/>
              <a:t>スマホで位置合わせして、</a:t>
            </a:r>
            <a:r>
              <a:rPr lang="en-US" altLang="ja-JP" dirty="0" err="1"/>
              <a:t>見上げる。それだけです</a:t>
            </a:r>
            <a:r>
              <a:rPr lang="en-US" altLang="ja-JP" dirty="0"/>
              <a:t>。</a:t>
            </a:r>
            <a:r>
              <a:rPr lang="ja-JP" altLang="en-US" dirty="0"/>
              <a:t>起動時の補正以外、スマホを見る必要はありません</a:t>
            </a:r>
            <a:r>
              <a:rPr lang="en-US" altLang="ja-JP" dirty="0"/>
              <a:t>。見上げた瞬間、目の前の本物の星に線が引かれて、星座の名前が浮かびます。首を動かせば、表示も一緒に動きます。空の正しい位置に、正しい星座が出ている状態です。次に、ツルを</a:t>
            </a:r>
            <a:r>
              <a:rPr lang="ja-JP" altLang="en-US" dirty="0"/>
              <a:t>ワンタップする</a:t>
            </a:r>
            <a:r>
              <a:rPr lang="en-US" altLang="ja-JP" dirty="0"/>
              <a:t>。</a:t>
            </a:r>
            <a:r>
              <a:rPr lang="en-US" altLang="ja-JP" dirty="0" err="1"/>
              <a:t>するとAI</a:t>
            </a:r>
            <a:r>
              <a:rPr lang="en-US" altLang="ja-JP" dirty="0"/>
              <a:t> </a:t>
            </a:r>
            <a:r>
              <a:rPr lang="en-US" altLang="ja-JP" dirty="0" err="1"/>
              <a:t>が話しはじめます。あれは、はくちょう座です、というところから、神話の由来でも、あの明るい星が地球から何光年離れているかでも</a:t>
            </a:r>
            <a:r>
              <a:rPr lang="en-US" altLang="ja-JP" dirty="0"/>
              <a:t>。</a:t>
            </a:r>
            <a:r>
              <a:rPr lang="ja-JP" altLang="en-US" dirty="0"/>
              <a:t>もっと詳しい解説が欲しければ、ツルをホールド音声入力で</a:t>
            </a:r>
            <a:r>
              <a:rPr lang="en-US" altLang="ja-JP" dirty="0"/>
              <a:t>AI</a:t>
            </a:r>
            <a:r>
              <a:rPr lang="ja-JP" altLang="en-US" dirty="0"/>
              <a:t>に質問できます。</a:t>
            </a:r>
            <a:r>
              <a:rPr lang="en-US" altLang="ja-JP" dirty="0" err="1"/>
              <a:t>目は空に向いたまま、情報だけが空の側からやってくる。それが、このアプリです</a:t>
            </a:r>
            <a:r>
              <a:rPr lang="en-US" altLang="ja-JP" dirty="0"/>
              <a:t>。</a:t>
            </a:r>
            <a:r>
              <a:rPr lang="ja-JP" altLang="en-US" dirty="0"/>
              <a:t>ツルをツータップすることで人工衛星を表示する機能も実装予定です。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8958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では</a:t>
            </a:r>
            <a:r>
              <a:rPr lang="en-US" dirty="0"/>
              <a:t>、</a:t>
            </a:r>
            <a:r>
              <a:rPr lang="ja-JP" altLang="en-US" dirty="0"/>
              <a:t>まずイシューから</a:t>
            </a:r>
            <a:r>
              <a:rPr lang="en-US" dirty="0"/>
              <a:t>。ふたつの問いに答えます。ひとつめ。その課題は本当に存在するのか。夜、ふと空を見上げる。星が出ている。きれいだな、と思う。でも、あの明るい星の名前がわからない。この瞬間は、誰にでも覚えがあると思います。問題は、そのあとです。名前を知りたいという気持ちは、</a:t>
            </a:r>
            <a:r>
              <a:rPr lang="ja-JP" altLang="en-US" dirty="0"/>
              <a:t>目の前の星空の美しさに奪われます</a:t>
            </a:r>
            <a:r>
              <a:rPr lang="en-US" dirty="0"/>
              <a:t>。わざわざスマホを取り出して、アプリを開いて、読み込みを待って、というだけの熱量が、たいていの夜にはないんです。だから、ほとんどの人は、わからないまま部屋に戻ります。星空を見に行く人だけの話ではありません。旅先の宿でも、キャンプ場でも、家のベランダでも、同じことが毎晩起きています。関心が消えているだけで、需要がないわけではない。ふたつめ。既存手段では解けないのか。スマホの星座アプリは、もう十年以上前からあります。それでも解けていません。理由は単純で、かざした瞬間、人は画面を見てしまうからです。</a:t>
            </a:r>
            <a:r>
              <a:rPr lang="ja-JP" altLang="en-US" dirty="0"/>
              <a:t>いくらスマホの明るさを低くしても眼球は明順応してしまいます</a:t>
            </a:r>
            <a:r>
              <a:rPr lang="en-US" dirty="0"/>
              <a:t>。</a:t>
            </a:r>
            <a:r>
              <a:rPr lang="ja-JP" altLang="en-US" dirty="0"/>
              <a:t>それに</a:t>
            </a:r>
            <a:r>
              <a:rPr lang="en-US" dirty="0" err="1"/>
              <a:t>片手はふさがり、隣の人と同じものを見ることもできない。そして、開いて、検索して、読む、という手数が最後まで残ります</a:t>
            </a:r>
            <a:r>
              <a:rPr lang="en-US" dirty="0"/>
              <a:t>。</a:t>
            </a:r>
            <a:r>
              <a:rPr lang="ja-JP" altLang="en-US" dirty="0"/>
              <a:t>美しい星空を見続けたい気持ちに対して</a:t>
            </a:r>
            <a:r>
              <a:rPr lang="en-US" dirty="0"/>
              <a:t>、手数が多すぎるんです。既存手段は、調べる気になった人のための道具でした。私たちが解きたいのは、調べる気にならなかった人の夜のほうです。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では、なぜこれが SABERA でなければ成立しないのか。三つあります。ひとつめ、視線が空から離れないこと。SABERA は透過型です。景色の上に情報が重なるので、見るものを切り替える必要がありません。スマホは、どれだけ画面を良くしても、視線を空から奪</a:t>
            </a:r>
            <a:r>
              <a:rPr lang="ja-JP" altLang="en-US" dirty="0"/>
              <a:t>います</a:t>
            </a:r>
            <a:r>
              <a:rPr lang="en-US" dirty="0"/>
              <a:t>。ここは性能の差ではなく、置き場所の差です。手のなかにあるか、視線の上にあるか。ふたつめ、手が</a:t>
            </a:r>
            <a:r>
              <a:rPr lang="ja-JP" altLang="en-US" dirty="0"/>
              <a:t>ふさがらない</a:t>
            </a:r>
            <a:r>
              <a:rPr lang="en-US" dirty="0"/>
              <a:t>。</a:t>
            </a:r>
            <a:r>
              <a:rPr lang="ja-JP" altLang="en-US" dirty="0"/>
              <a:t>必要なのは最初のキャリブレーションだけです</a:t>
            </a:r>
            <a:r>
              <a:rPr lang="en-US" dirty="0"/>
              <a:t>。</a:t>
            </a:r>
            <a:r>
              <a:rPr lang="ja-JP" altLang="en-US" dirty="0"/>
              <a:t>あなたの子供の手を握っている手も、愛する人と繋いでいる手も離させません。</a:t>
            </a:r>
            <a:r>
              <a:rPr lang="en-US" dirty="0" err="1"/>
              <a:t>みっつめ、何もしなくていいこと。かけている状態が、そのまま起動している状態です。取り出す動作も、開く動作もない</a:t>
            </a:r>
            <a:r>
              <a:rPr lang="en-US" dirty="0"/>
              <a:t>。</a:t>
            </a:r>
            <a:r>
              <a:rPr lang="ja-JP" altLang="en-US" dirty="0"/>
              <a:t>すぐになくなるような</a:t>
            </a:r>
            <a:r>
              <a:rPr lang="en-US" dirty="0" err="1"/>
              <a:t>関心に間に合うのは、手数がゼロのものだけです。そして</a:t>
            </a:r>
            <a:r>
              <a:rPr lang="ja-JP" altLang="en-US" dirty="0"/>
              <a:t>今見ている星座を</a:t>
            </a:r>
            <a:r>
              <a:rPr lang="en-US" altLang="ja-JP" dirty="0"/>
              <a:t>AI</a:t>
            </a:r>
            <a:r>
              <a:rPr lang="ja-JP" altLang="en-US" dirty="0"/>
              <a:t>が解説してくれます</a:t>
            </a:r>
            <a:r>
              <a:rPr lang="en-US" dirty="0"/>
              <a:t>。</a:t>
            </a:r>
            <a:r>
              <a:rPr lang="ja-JP" altLang="en-US" dirty="0"/>
              <a:t>あなたが今見ている星座、それをワンタップで</a:t>
            </a:r>
            <a:r>
              <a:rPr lang="en-US" altLang="ja-JP" dirty="0"/>
              <a:t>AI</a:t>
            </a:r>
            <a:r>
              <a:rPr lang="ja-JP" altLang="en-US" dirty="0"/>
              <a:t>が解説します。もっと詳しい解説が欲しい場合、音声入力で対話型の</a:t>
            </a:r>
            <a:r>
              <a:rPr lang="en-US" altLang="ja-JP" dirty="0"/>
              <a:t>AI</a:t>
            </a:r>
            <a:r>
              <a:rPr lang="ja-JP" altLang="en-US" dirty="0"/>
              <a:t>解説が始まります、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次に</a:t>
            </a:r>
            <a:r>
              <a:rPr lang="en-US" dirty="0"/>
              <a:t>、</a:t>
            </a:r>
            <a:r>
              <a:rPr lang="ja-JP" altLang="en-US" dirty="0"/>
              <a:t>ターゲット層について</a:t>
            </a:r>
            <a:r>
              <a:rPr lang="en-US" dirty="0"/>
              <a:t>。使い手は、大きく二つに分かれます。ひとつは、星を見に行く人ではなく、星のある場所に行く人です。キャンプに行った家族、旅先の宿に泊まった人、山小屋に泊まった登山者。星を目的に来たわけではないけれど、そこに星がある人たちです。この層は、これまで星座アプリを開いてきませんでした。開くほどの熱量がないからです。私たちが最初に狙うのは、この層です。もうひとつは、星を見せる側の人たちです。観光地の星空ツアー、キャンプ場、山小屋、プラネタリウムの屋外観測会、学校の野外学習。ここは、事情が違います。星空を売りにしているのに、案内できる人の数が上限になっているんです。ガイドが一人なら、一度に案内できるのは十数人。声が届く範囲までしか案内できません。私たちのアプリは、その語り手を人数分に増やせます。ガイドがいなくても成立するので、開催できる回数も、受け入れられる人数も増えます。届け方も、この二つで分かれます。個人には、SABERA を持っている人へのアプリとして。施設には、貸し出す形で。施設側は、ガイドを増やす代わりに導入する、という判断になります。星空を売りにしている場所は、日本中にあります。そのどこでも、同じ課題を抱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どこまで伸びるかをお話しします。星座は入口です。同じ仕組みの上で、次に出すのは人工衛星の表示です。いま自分の頭上を通っている衛星の位置を計算して、星座と同じように視界に重ねます。たとえば、国際宇宙ステーションが二分後に南西から昇ってくる。そのとき視界には、通り道が線で描かれています。見上げて待っていると、本当にその線の上を、明るい点が動いていく。これがなぜ大事かというと、体験が一度で終わらなくなるからです。星座は何千年も動きません。一度覚えたら、次に見上げても同じです。けれど衛星は、いま動いています。今夜しか見られないものが空にあると分かると、人はもう一度空を見上げます。使い続ける理由が、空の側にある、ということです。そして、この形はもっと広く効きます。私たちが作っているのは、正確に言えば、見ている方向にあるものを言い当てて、語りかける仕組みです。今回はそれを星に向けました。同じものを、山に向けても、街に向けても成立します。見上げるたび、見渡すたびに、語り手がそこにいる。それが最終的に作りたい状態です。星とあなたを繋ぐ</a:t>
            </a:r>
            <a:r>
              <a:rPr lang="ja-JP" altLang="en-US" dirty="0"/>
              <a:t>アプリ星しるべ</a:t>
            </a:r>
            <a:r>
              <a:rPr lang="en-US" dirty="0"/>
              <a:t>。以上です。ありがとうございました。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233F">
                  <a:alpha val="100000"/>
                </a:srgbClr>
              </a:gs>
              <a:gs pos="45000">
                <a:srgbClr val="0A0F1C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78000" t="12000" r="22000" b="88000"/>
            </a:path>
          </a:gra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849961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kern="0" spc="384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JIG.JP SUMMER INTERNSHIP / SABERA コース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550900" y="685800"/>
            <a:ext cx="382612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400" kern="0" spc="384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星しるべ ── TEAM-E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2133"/>
            <a:ext cx="2357961" cy="98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ja-JP" sz="4800" kern="0" spc="288" noProof="0" dirty="0">
                <a:solidFill>
                  <a:srgbClr val="E2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星しるべ</a:t>
            </a:r>
            <a:endParaRPr lang="ja-JP" sz="4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3109913"/>
            <a:ext cx="8621074" cy="2640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787"/>
              </a:lnSpc>
              <a:buNone/>
            </a:pPr>
            <a:r>
              <a:rPr lang="en-US" sz="9300" b="1" kern="0" spc="-18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見上げた空に</a:t>
            </a:r>
          </a:p>
          <a:p>
            <a:pPr marL="0" indent="0" algn="l">
              <a:lnSpc>
                <a:spcPct val="95787"/>
              </a:lnSpc>
              <a:buNone/>
            </a:pPr>
            <a:r>
              <a:rPr lang="ja-JP" altLang="en-US" sz="9300" b="1" kern="0" spc="-18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星座が見える</a:t>
            </a:r>
            <a:endParaRPr lang="en-US" sz="9300" dirty="0"/>
          </a:p>
        </p:txBody>
      </p:sp>
      <p:sp>
        <p:nvSpPr>
          <p:cNvPr id="7" name="Text 5"/>
          <p:cNvSpPr/>
          <p:nvPr/>
        </p:nvSpPr>
        <p:spPr>
          <a:xfrm>
            <a:off x="914400" y="6315470"/>
            <a:ext cx="8621074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SABERAをかけ</a:t>
            </a:r>
            <a:r>
              <a:rPr lang="ja-JP" alt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</a:t>
            </a:r>
            <a:r>
              <a:rPr 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空を見上げると</a:t>
            </a:r>
          </a:p>
          <a:p>
            <a:pPr marL="0" indent="0" algn="l">
              <a:lnSpc>
                <a:spcPct val="121528"/>
              </a:lnSpc>
              <a:buNone/>
            </a:pPr>
            <a:r>
              <a:rPr 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点と線が浮かび上がり</a:t>
            </a:r>
          </a:p>
          <a:p>
            <a:pPr marL="0" indent="0" algn="l">
              <a:lnSpc>
                <a:spcPct val="121528"/>
              </a:lnSpc>
              <a:buNone/>
            </a:pPr>
            <a:r>
              <a:rPr 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実際の星座と重なる。</a:t>
            </a:r>
            <a:endParaRPr lang="en-US" sz="3750" dirty="0"/>
          </a:p>
        </p:txBody>
      </p:sp>
      <p:sp>
        <p:nvSpPr>
          <p:cNvPr id="16" name="Shape 14"/>
          <p:cNvSpPr/>
          <p:nvPr/>
        </p:nvSpPr>
        <p:spPr>
          <a:xfrm>
            <a:off x="914400" y="8715375"/>
            <a:ext cx="164592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14400" y="9072086"/>
            <a:ext cx="1778949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kern="0" spc="513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984500" y="9029700"/>
            <a:ext cx="1460500" cy="6877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00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いと氏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53000" y="9029700"/>
            <a:ext cx="2286000" cy="6877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00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ウェッキー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747000" y="9029700"/>
            <a:ext cx="1079500" cy="6877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00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ネル</a:t>
            </a:r>
            <a:endParaRPr lang="en-US" sz="3000" dirty="0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86B3A99A-60F0-EC14-6412-37E675ECC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542" y="3622358"/>
            <a:ext cx="8096058" cy="473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6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5BDEBAF-A4B8-EBB0-3874-5CAA358711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233F">
                  <a:alpha val="100000"/>
                </a:srgbClr>
              </a:gs>
              <a:gs pos="45000">
                <a:srgbClr val="0A0F1C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78000" t="12000" r="22000" b="88000"/>
            </a:path>
          </a:gra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E2F0C10-3967-4450-44A5-68439A97143E}"/>
              </a:ext>
            </a:extLst>
          </p:cNvPr>
          <p:cNvSpPr/>
          <p:nvPr/>
        </p:nvSpPr>
        <p:spPr>
          <a:xfrm>
            <a:off x="1012441" y="2257663"/>
            <a:ext cx="7205305" cy="5771674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C9AF168-CFD5-3F5B-E9B2-AE6C6B74D7C6}"/>
              </a:ext>
            </a:extLst>
          </p:cNvPr>
          <p:cNvSpPr/>
          <p:nvPr/>
        </p:nvSpPr>
        <p:spPr>
          <a:xfrm>
            <a:off x="1477260" y="2722483"/>
            <a:ext cx="6632520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ja-JP" altLang="en-US" sz="2850" kern="0" spc="513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必要なこと</a:t>
            </a:r>
            <a:endParaRPr lang="en-US" sz="28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C2E2221-7F43-2B67-9D52-C0280114F1E2}"/>
              </a:ext>
            </a:extLst>
          </p:cNvPr>
          <p:cNvSpPr/>
          <p:nvPr/>
        </p:nvSpPr>
        <p:spPr>
          <a:xfrm>
            <a:off x="1477260" y="3796665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7343D12-12C6-2643-C00F-0AA46B0A9FA1}"/>
              </a:ext>
            </a:extLst>
          </p:cNvPr>
          <p:cNvSpPr/>
          <p:nvPr/>
        </p:nvSpPr>
        <p:spPr>
          <a:xfrm>
            <a:off x="2468551" y="3796665"/>
            <a:ext cx="5333309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かける。見上げる。</a:t>
            </a:r>
            <a:endParaRPr lang="en-US" sz="52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550C16E-2C82-46A9-0D83-27A96735F2F3}"/>
              </a:ext>
            </a:extLst>
          </p:cNvPr>
          <p:cNvSpPr/>
          <p:nvPr/>
        </p:nvSpPr>
        <p:spPr>
          <a:xfrm>
            <a:off x="1477260" y="4814173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38BEFD3-A94A-B4E3-F97D-273686B463ED}"/>
              </a:ext>
            </a:extLst>
          </p:cNvPr>
          <p:cNvSpPr/>
          <p:nvPr/>
        </p:nvSpPr>
        <p:spPr>
          <a:xfrm>
            <a:off x="2468551" y="4814173"/>
            <a:ext cx="5333309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ツルをワンタップ</a:t>
            </a:r>
            <a:endParaRPr lang="en-US" sz="52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8E3E719-ED9B-67F4-645D-BC207EF82607}"/>
              </a:ext>
            </a:extLst>
          </p:cNvPr>
          <p:cNvSpPr/>
          <p:nvPr/>
        </p:nvSpPr>
        <p:spPr>
          <a:xfrm>
            <a:off x="1477260" y="6812280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9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26B9644-30E7-7ECC-3644-90C3B0C3D756}"/>
              </a:ext>
            </a:extLst>
          </p:cNvPr>
          <p:cNvSpPr/>
          <p:nvPr/>
        </p:nvSpPr>
        <p:spPr>
          <a:xfrm>
            <a:off x="2467860" y="6399953"/>
            <a:ext cx="5334000" cy="155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画面を見ない。 SABERA だけ。</a:t>
            </a:r>
            <a:endParaRPr lang="en-US" sz="525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E2ED879B-814C-EC59-75B4-E318224DD027}"/>
              </a:ext>
            </a:extLst>
          </p:cNvPr>
          <p:cNvSpPr/>
          <p:nvPr/>
        </p:nvSpPr>
        <p:spPr>
          <a:xfrm>
            <a:off x="9863665" y="2362200"/>
            <a:ext cx="7205305" cy="5771674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AA3CF5A5-C914-2A3D-7741-AC44608713FF}"/>
              </a:ext>
            </a:extLst>
          </p:cNvPr>
          <p:cNvSpPr/>
          <p:nvPr/>
        </p:nvSpPr>
        <p:spPr>
          <a:xfrm>
            <a:off x="10328484" y="2827020"/>
            <a:ext cx="6632520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ja-JP" altLang="en-US" sz="2850" kern="0" spc="513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28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811AE0F0-1A4B-7274-70AF-FBD9545AE07C}"/>
              </a:ext>
            </a:extLst>
          </p:cNvPr>
          <p:cNvSpPr/>
          <p:nvPr/>
        </p:nvSpPr>
        <p:spPr>
          <a:xfrm>
            <a:off x="10328484" y="3796665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95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6022EC2A-2245-CD71-60AF-F3F77F06EA9D}"/>
              </a:ext>
            </a:extLst>
          </p:cNvPr>
          <p:cNvSpPr/>
          <p:nvPr/>
        </p:nvSpPr>
        <p:spPr>
          <a:xfrm>
            <a:off x="11509584" y="3730944"/>
            <a:ext cx="5333309" cy="732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ja-JP" alt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今見ている星座の解説</a:t>
            </a:r>
            <a:endParaRPr lang="en-US" sz="525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CE5B6D4B-0C9D-7390-FE40-977D19C28B07}"/>
              </a:ext>
            </a:extLst>
          </p:cNvPr>
          <p:cNvSpPr/>
          <p:nvPr/>
        </p:nvSpPr>
        <p:spPr>
          <a:xfrm>
            <a:off x="10328484" y="4918710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95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BB2204A6-4934-9771-589D-572BE11A686D}"/>
              </a:ext>
            </a:extLst>
          </p:cNvPr>
          <p:cNvSpPr/>
          <p:nvPr/>
        </p:nvSpPr>
        <p:spPr>
          <a:xfrm>
            <a:off x="11509584" y="4852988"/>
            <a:ext cx="5333309" cy="130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ja-JP" alt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人工衛星表示</a:t>
            </a:r>
            <a:endParaRPr lang="en-US" altLang="ja-JP" sz="5250" dirty="0">
              <a:solidFill>
                <a:srgbClr val="F2F5F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98762"/>
              </a:lnSpc>
              <a:buNone/>
            </a:pPr>
            <a:r>
              <a:rPr lang="ja-JP" alt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（実装予定）</a:t>
            </a:r>
            <a:endParaRPr lang="en-US" sz="525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4BA88CAD-C3D5-2866-3FD3-201876653297}"/>
              </a:ext>
            </a:extLst>
          </p:cNvPr>
          <p:cNvSpPr/>
          <p:nvPr/>
        </p:nvSpPr>
        <p:spPr>
          <a:xfrm>
            <a:off x="10328484" y="6812280"/>
            <a:ext cx="9906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42"/>
              </a:lnSpc>
              <a:buNone/>
            </a:pPr>
            <a:r>
              <a:rPr lang="en-US" sz="495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95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E363906E-9B83-935A-FBDA-C7778495FB72}"/>
              </a:ext>
            </a:extLst>
          </p:cNvPr>
          <p:cNvSpPr/>
          <p:nvPr/>
        </p:nvSpPr>
        <p:spPr>
          <a:xfrm>
            <a:off x="11508893" y="6366510"/>
            <a:ext cx="5334000" cy="155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762"/>
              </a:lnSpc>
              <a:buNone/>
            </a:pPr>
            <a:r>
              <a:rPr lang="ja-JP" alt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音声入力で</a:t>
            </a:r>
            <a:endParaRPr lang="en-US" altLang="ja-JP" sz="5250" dirty="0">
              <a:solidFill>
                <a:srgbClr val="F2F5F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98762"/>
              </a:lnSpc>
              <a:buNone/>
            </a:pPr>
            <a:r>
              <a:rPr lang="ja-JP" altLang="en-US" sz="52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星座の質問</a:t>
            </a:r>
            <a:endParaRPr lang="en-US" sz="5250" dirty="0"/>
          </a:p>
        </p:txBody>
      </p:sp>
    </p:spTree>
    <p:extLst>
      <p:ext uri="{BB962C8B-B14F-4D97-AF65-F5344CB8AC3E}">
        <p14:creationId xmlns:p14="http://schemas.microsoft.com/office/powerpoint/2010/main" val="16965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120">
                  <a:alpha val="100000"/>
                </a:srgbClr>
              </a:gs>
              <a:gs pos="62000">
                <a:srgbClr val="05070D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645920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kern="0" spc="66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イシュー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525905"/>
            <a:ext cx="16459200" cy="2342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夜空は綺麗。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だけど</a:t>
            </a:r>
            <a:r>
              <a:rPr lang="ja-JP" alt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星座も神話も知らない。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14400" y="4287203"/>
            <a:ext cx="7962900" cy="5662613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4836795"/>
            <a:ext cx="1302663" cy="745808"/>
          </a:xfrm>
          <a:prstGeom prst="rect">
            <a:avLst/>
          </a:prstGeom>
          <a:ln w="7620">
            <a:solidFill>
              <a:srgbClr val="9DC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567259" y="4909820"/>
            <a:ext cx="868323" cy="540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51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 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929533" y="4752022"/>
            <a:ext cx="5745599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ja-JP" altLang="en-US" sz="420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すぐには調べない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417320" y="6010275"/>
            <a:ext cx="7165772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星座も神話も</a:t>
            </a:r>
          </a:p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覚えていない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17320" y="7900035"/>
            <a:ext cx="7165772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スマホと見比べても</a:t>
            </a:r>
            <a:b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イマイチわからない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9410700" y="4287203"/>
            <a:ext cx="7962900" cy="5662613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913620" y="4836795"/>
            <a:ext cx="1362909" cy="745808"/>
          </a:xfrm>
          <a:prstGeom prst="rect">
            <a:avLst/>
          </a:prstGeom>
          <a:ln w="7620">
            <a:solidFill>
              <a:srgbClr val="9DC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0107394" y="4909820"/>
            <a:ext cx="928569" cy="540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51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 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486079" y="4752022"/>
            <a:ext cx="5588000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ja-JP" altLang="en-US" sz="420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</a:t>
            </a:r>
            <a:r>
              <a:rPr lang="en-US" sz="420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では解けない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913620" y="6010275"/>
            <a:ext cx="7165772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空ではなく</a:t>
            </a:r>
          </a:p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画面を見てしまう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913620" y="7900035"/>
            <a:ext cx="7165772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開く・探す・読む</a:t>
            </a:r>
            <a:b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0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手数が多すぎる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4661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3A">
                  <a:alpha val="100000"/>
                </a:srgbClr>
              </a:gs>
              <a:gs pos="50000">
                <a:srgbClr val="090E1A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84000" t="20000" r="16000" b="80000"/>
            </a:path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645920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kern="0" spc="66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 SABERA なのか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525905"/>
            <a:ext cx="16459200" cy="1190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情報が、手のなかから視線の上へ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14400" y="3097054"/>
            <a:ext cx="16459200" cy="1386007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379220" y="3428047"/>
            <a:ext cx="1219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2865120" y="3352681"/>
            <a:ext cx="14046200" cy="91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288"/>
              </a:lnSpc>
              <a:buNone/>
            </a:pPr>
            <a:r>
              <a:rPr lang="en-US" sz="61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視線が空から離れない</a:t>
            </a:r>
            <a:endParaRPr lang="en-US" sz="6150" dirty="0"/>
          </a:p>
        </p:txBody>
      </p:sp>
      <p:sp>
        <p:nvSpPr>
          <p:cNvPr id="8" name="Shape 6"/>
          <p:cNvSpPr/>
          <p:nvPr/>
        </p:nvSpPr>
        <p:spPr>
          <a:xfrm>
            <a:off x="914400" y="4749760"/>
            <a:ext cx="16459200" cy="1386007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79220" y="5080754"/>
            <a:ext cx="1219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2865120" y="5005388"/>
            <a:ext cx="14046200" cy="91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288"/>
              </a:lnSpc>
              <a:buNone/>
            </a:pPr>
            <a:r>
              <a:rPr lang="en-US" sz="61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手がふさがらない</a:t>
            </a:r>
            <a:endParaRPr lang="en-US" sz="6150" dirty="0"/>
          </a:p>
        </p:txBody>
      </p:sp>
      <p:sp>
        <p:nvSpPr>
          <p:cNvPr id="11" name="Shape 9"/>
          <p:cNvSpPr/>
          <p:nvPr/>
        </p:nvSpPr>
        <p:spPr>
          <a:xfrm>
            <a:off x="914400" y="6402467"/>
            <a:ext cx="16459200" cy="1386007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379220" y="6733461"/>
            <a:ext cx="1219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2865120" y="6658094"/>
            <a:ext cx="14046200" cy="912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288"/>
              </a:lnSpc>
              <a:buNone/>
            </a:pPr>
            <a:r>
              <a:rPr lang="en-US" sz="61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が教えてくれる</a:t>
            </a:r>
            <a:endParaRPr lang="en-US" sz="6150" dirty="0"/>
          </a:p>
        </p:txBody>
      </p:sp>
      <p:sp>
        <p:nvSpPr>
          <p:cNvPr id="14" name="Shape 12"/>
          <p:cNvSpPr/>
          <p:nvPr/>
        </p:nvSpPr>
        <p:spPr>
          <a:xfrm>
            <a:off x="914400" y="8207693"/>
            <a:ext cx="16459200" cy="1469708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41120" y="8558213"/>
            <a:ext cx="2348865" cy="768668"/>
          </a:xfrm>
          <a:prstGeom prst="rect">
            <a:avLst/>
          </a:prstGeom>
          <a:solidFill>
            <a:srgbClr val="9DC0E2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607820" y="8691563"/>
            <a:ext cx="189166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51" dirty="0">
                <a:solidFill>
                  <a:srgbClr val="E2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である理由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4070985" y="8719239"/>
            <a:ext cx="128397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375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季節、環境、場所によって見えている星座は違う。それをAIで解説。</a:t>
            </a:r>
            <a:endParaRPr lang="en-US" sz="3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C1322">
                  <a:alpha val="100000"/>
                </a:srgbClr>
              </a:gs>
              <a:gs pos="66000">
                <a:srgbClr val="05070D">
                  <a:alpha val="100000"/>
                </a:srgbClr>
              </a:gs>
            </a:gsLst>
            <a:lin ang="6600000" scaled="0"/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645920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kern="0" spc="66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誰が使うか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525905"/>
            <a:ext cx="16459200" cy="1190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星のある場所にいる人へ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14400" y="3135154"/>
            <a:ext cx="7962900" cy="6559868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3684746"/>
            <a:ext cx="1171218" cy="745808"/>
          </a:xfrm>
          <a:prstGeom prst="rect">
            <a:avLst/>
          </a:prstGeom>
          <a:noFill/>
          <a:ln w="19050">
            <a:solidFill>
              <a:srgbClr val="9DC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672590" y="3806666"/>
            <a:ext cx="736878" cy="540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51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798088" y="3599974"/>
            <a:ext cx="5699629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en-US" sz="465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星のある場所に行く人</a:t>
            </a:r>
            <a:endParaRPr lang="en-US" sz="4650" dirty="0"/>
          </a:p>
        </p:txBody>
      </p:sp>
      <p:sp>
        <p:nvSpPr>
          <p:cNvPr id="9" name="Shape 7"/>
          <p:cNvSpPr/>
          <p:nvPr/>
        </p:nvSpPr>
        <p:spPr>
          <a:xfrm>
            <a:off x="1417320" y="4858226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684020" y="5067776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キャンプの家族連れ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1417320" y="6391751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84020" y="6601301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旅先の宿・山小屋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417320" y="7925276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84020" y="8134826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家のベランダ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9410700" y="3135154"/>
            <a:ext cx="7962900" cy="6559868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913620" y="3692366"/>
            <a:ext cx="1155978" cy="730568"/>
          </a:xfrm>
          <a:prstGeom prst="rect">
            <a:avLst/>
          </a:prstGeom>
          <a:solidFill>
            <a:srgbClr val="9DC0E2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161270" y="3806666"/>
            <a:ext cx="736878" cy="540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51" dirty="0">
                <a:solidFill>
                  <a:srgbClr val="E2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施設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279148" y="3599974"/>
            <a:ext cx="3484685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972"/>
              </a:lnSpc>
              <a:buNone/>
            </a:pPr>
            <a:r>
              <a:rPr lang="en-US" sz="465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星を見せる側</a:t>
            </a:r>
            <a:endParaRPr lang="en-US" sz="4650" dirty="0"/>
          </a:p>
        </p:txBody>
      </p:sp>
      <p:sp>
        <p:nvSpPr>
          <p:cNvPr id="19" name="Shape 17"/>
          <p:cNvSpPr/>
          <p:nvPr/>
        </p:nvSpPr>
        <p:spPr>
          <a:xfrm>
            <a:off x="9913620" y="4858226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180320" y="5067776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観光地の星空ツアー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9913620" y="6391751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180320" y="6601301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キャンプ場・観測会</a:t>
            </a:r>
            <a:endParaRPr lang="en-US" sz="4500" dirty="0"/>
          </a:p>
        </p:txBody>
      </p:sp>
      <p:sp>
        <p:nvSpPr>
          <p:cNvPr id="23" name="Shape 21"/>
          <p:cNvSpPr/>
          <p:nvPr/>
        </p:nvSpPr>
        <p:spPr>
          <a:xfrm>
            <a:off x="9913620" y="7925276"/>
            <a:ext cx="6957060" cy="13049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180320" y="8134826"/>
            <a:ext cx="66323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450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学校の野外学習</a:t>
            </a:r>
            <a:endParaRPr lang="en-US" sz="4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7203A">
                  <a:alpha val="100000"/>
                </a:srgbClr>
              </a:gs>
              <a:gs pos="48000">
                <a:srgbClr val="090E1A">
                  <a:alpha val="100000"/>
                </a:srgbClr>
              </a:gs>
              <a:gs pos="100000">
                <a:srgbClr val="05070D">
                  <a:alpha val="100000"/>
                </a:srgbClr>
              </a:gs>
            </a:gsLst>
            <a:path path="circle">
              <a:fillToRect l="18000" t="88000" r="82000" b="12000"/>
            </a:path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645920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3300" kern="0" spc="66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どこまで伸びるか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525905"/>
            <a:ext cx="16459200" cy="1190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8400" b="1" kern="0" spc="-126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星座から、頭上を通る衛星へ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14400" y="3251121"/>
            <a:ext cx="1633061" cy="1037273"/>
          </a:xfrm>
          <a:prstGeom prst="rect">
            <a:avLst/>
          </a:prstGeom>
          <a:ln w="7620">
            <a:solidFill>
              <a:srgbClr val="9DC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283970" y="3430191"/>
            <a:ext cx="970121" cy="7172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5038"/>
              </a:lnSpc>
              <a:buNone/>
            </a:pPr>
            <a:r>
              <a:rPr lang="en-US" sz="3450" kern="0" spc="69" dirty="0">
                <a:solidFill>
                  <a:srgbClr val="9DC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星座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2795111" y="3764994"/>
            <a:ext cx="2324100" cy="9525"/>
          </a:xfrm>
          <a:prstGeom prst="rect">
            <a:avLst/>
          </a:prstGeom>
          <a:solidFill>
            <a:srgbClr val="9DC0E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366861" y="3258741"/>
            <a:ext cx="2511623" cy="1022033"/>
          </a:xfrm>
          <a:prstGeom prst="rect">
            <a:avLst/>
          </a:prstGeom>
          <a:solidFill>
            <a:srgbClr val="9DC0E2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728811" y="3430191"/>
            <a:ext cx="1863923" cy="71723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5038"/>
              </a:lnSpc>
              <a:buNone/>
            </a:pPr>
            <a:r>
              <a:rPr lang="en-US" sz="3450" kern="0" spc="69" dirty="0">
                <a:solidFill>
                  <a:srgbClr val="E2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人工衛星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14400" y="4707493"/>
            <a:ext cx="7173007" cy="1672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95"/>
              </a:lnSpc>
              <a:buNone/>
            </a:pPr>
            <a:r>
              <a:rPr lang="en-US" sz="4950" dirty="0">
                <a:solidFill>
                  <a:srgbClr val="F2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分後、南西から ISS。 視界には、その通り道。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914400" y="6761083"/>
            <a:ext cx="7173007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4200" dirty="0">
                <a:solidFill>
                  <a:srgbClr val="B6C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今、その瞬間しか見られない 人工衛星を同期させる。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8488085" y="4095036"/>
            <a:ext cx="8885515" cy="3262313"/>
          </a:xfrm>
          <a:prstGeom prst="rect">
            <a:avLst/>
          </a:prstGeom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991005" y="4559856"/>
            <a:ext cx="7874000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2850" kern="0" spc="513" dirty="0">
                <a:solidFill>
                  <a:srgbClr val="93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その先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991005" y="5406628"/>
            <a:ext cx="762000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4500" dirty="0" err="1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見ている方向のものを語る仕組み。山にも、街にも</a:t>
            </a:r>
            <a:r>
              <a:rPr lang="en-US" sz="4500" dirty="0">
                <a:solidFill>
                  <a:srgbClr val="DB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914400" y="8774430"/>
            <a:ext cx="164592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4400" y="9086850"/>
            <a:ext cx="16459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3000" kern="0" spc="12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星とあなたを繋ぐ</a:t>
            </a:r>
            <a:r>
              <a:rPr lang="ja-JP" altLang="en-US" sz="3000" kern="0" spc="120" dirty="0">
                <a:solidFill>
                  <a:srgbClr val="A9C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ja-JP" altLang="en-US" sz="3000" kern="0" spc="12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星しるべ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884F6D2-2D25-49C0-8279-27B3330BBD1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3d6ba16-980a-44cc-8477-81ddc0742ba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793</Words>
  <Application>Microsoft Macintosh PowerPoint</Application>
  <PresentationFormat>ユーザー設定</PresentationFormat>
  <Paragraphs>83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海人 伊藤</cp:lastModifiedBy>
  <cp:revision>7</cp:revision>
  <dcterms:created xsi:type="dcterms:W3CDTF">2026-08-24T01:34:55Z</dcterms:created>
  <dcterms:modified xsi:type="dcterms:W3CDTF">2026-08-24T03:01:37Z</dcterms:modified>
</cp:coreProperties>
</file>